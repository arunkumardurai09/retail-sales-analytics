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307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8778240" y="0"/>
            <a:ext cx="3429000" cy="6858000"/>
          </a:xfrm>
          <a:prstGeom prst="rect">
            <a:avLst/>
          </a:prstGeom>
          <a:solidFill>
            <a:srgbClr val="A4A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Isosceles Triangle 3"/>
          <p:cNvSpPr/>
          <p:nvPr/>
        </p:nvSpPr>
        <p:spPr>
          <a:xfrm rot="5400000">
            <a:off x="7726679" y="4251960"/>
            <a:ext cx="3840480" cy="2834640"/>
          </a:xfrm>
          <a:prstGeom prst="triangle">
            <a:avLst/>
          </a:prstGeom>
          <a:solidFill>
            <a:srgbClr val="4D5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0664" y="1367029"/>
            <a:ext cx="7452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72249"/>
                </a:solidFill>
                <a:latin typeface="Aptos"/>
              </a:defRPr>
            </a:pPr>
            <a:r>
              <a:rPr dirty="0"/>
              <a:t>RETAIL SALES ANALYTICS</a:t>
            </a:r>
          </a:p>
          <a:p>
            <a:pPr>
              <a:spcBef>
                <a:spcPts val="1000"/>
              </a:spcBef>
              <a:defRPr sz="2200">
                <a:solidFill>
                  <a:srgbClr val="232834"/>
                </a:solidFill>
                <a:latin typeface="Aptos"/>
              </a:defRPr>
            </a:pPr>
            <a:r>
              <a:rPr dirty="0"/>
              <a:t>Bicycle &amp; Bike Analysis using Excel, SQL, Python and Power BI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218688"/>
            <a:ext cx="69494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D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3218688"/>
            <a:ext cx="73152" cy="1463040"/>
          </a:xfrm>
          <a:prstGeom prst="rect">
            <a:avLst/>
          </a:prstGeom>
          <a:solidFill>
            <a:srgbClr val="4D5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3364992"/>
            <a:ext cx="6629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72249"/>
                </a:solidFill>
                <a:latin typeface="Aptos"/>
              </a:defRPr>
            </a:pPr>
            <a:r>
              <a:t>Project focus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785615"/>
            <a:ext cx="6629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32834"/>
                </a:solidFill>
                <a:latin typeface="Aptos"/>
              </a:defRPr>
            </a:pPr>
            <a:r>
              <a:t>• End-to-end retail sales analysis from raw transactional data to an interactive dashboard.</a:t>
            </a:r>
          </a:p>
          <a:p>
            <a:pPr>
              <a:spcAft>
                <a:spcPts val="400"/>
              </a:spcAft>
              <a:defRPr sz="1250">
                <a:solidFill>
                  <a:srgbClr val="232834"/>
                </a:solidFill>
                <a:latin typeface="Aptos"/>
              </a:defRPr>
            </a:pPr>
            <a:r>
              <a:t>• Covers data cleaning, SQL querying, Python EDA / RFM and Power BI reporting.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0256" y="484632"/>
            <a:ext cx="12191999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13232"/>
          </a:xfrm>
          <a:prstGeom prst="rect">
            <a:avLst/>
          </a:prstGeom>
          <a:solidFill>
            <a:srgbClr val="172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052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1. 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72600" y="164592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D5DBF2"/>
                </a:solidFill>
                <a:latin typeface="Aptos"/>
              </a:defRPr>
            </a:pPr>
            <a:r>
              <a:t>From task brief → analysis →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87552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D5BB0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335024"/>
            <a:ext cx="36576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D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335024"/>
            <a:ext cx="73152" cy="2011680"/>
          </a:xfrm>
          <a:prstGeom prst="rect">
            <a:avLst/>
          </a:prstGeom>
          <a:solidFill>
            <a:srgbClr val="4D5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1481328"/>
            <a:ext cx="3337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72249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01952"/>
            <a:ext cx="333756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32834"/>
                </a:solidFill>
                <a:latin typeface="Aptos"/>
              </a:defRPr>
            </a:pPr>
            <a:r>
              <a:t>• Retail businesses need to track sales performance, understand customer behavior and identify growth opportunities.</a:t>
            </a:r>
          </a:p>
          <a:p>
            <a:pPr>
              <a:spcAft>
                <a:spcPts val="400"/>
              </a:spcAft>
              <a:defRPr sz="1250">
                <a:solidFill>
                  <a:srgbClr val="232834"/>
                </a:solidFill>
                <a:latin typeface="Aptos"/>
              </a:defRPr>
            </a:pPr>
            <a:r>
              <a:t>• The project builds an end-to-end analytics solution from raw transactional data.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370332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D5BB0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096512"/>
            <a:ext cx="107899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834"/>
                </a:solidFill>
                <a:latin typeface="Aptos"/>
              </a:defRPr>
            </a:pPr>
            <a:r>
              <a:t>• Analyze sales performance and trends</a:t>
            </a:r>
          </a:p>
          <a:p>
            <a:pPr>
              <a:spcAft>
                <a:spcPts val="800"/>
              </a:spcAft>
              <a:defRPr sz="1700">
                <a:solidFill>
                  <a:srgbClr val="232834"/>
                </a:solidFill>
                <a:latin typeface="Aptos"/>
              </a:defRPr>
            </a:pPr>
            <a:r>
              <a:t>• Identify high-value customers and product patterns</a:t>
            </a:r>
          </a:p>
          <a:p>
            <a:pPr>
              <a:spcAft>
                <a:spcPts val="800"/>
              </a:spcAft>
              <a:defRPr sz="1700">
                <a:solidFill>
                  <a:srgbClr val="232834"/>
                </a:solidFill>
                <a:latin typeface="Aptos"/>
              </a:defRPr>
            </a:pPr>
            <a:r>
              <a:t>• Support targeted customer segmentation</a:t>
            </a:r>
          </a:p>
          <a:p>
            <a:pPr>
              <a:spcAft>
                <a:spcPts val="800"/>
              </a:spcAft>
              <a:defRPr sz="1700">
                <a:solidFill>
                  <a:srgbClr val="232834"/>
                </a:solidFill>
                <a:latin typeface="Aptos"/>
              </a:defRPr>
            </a:pPr>
            <a:r>
              <a:t>• Monitor inventory and product performance</a:t>
            </a:r>
          </a:p>
          <a:p>
            <a:pPr>
              <a:spcAft>
                <a:spcPts val="800"/>
              </a:spcAft>
              <a:defRPr sz="1700">
                <a:solidFill>
                  <a:srgbClr val="232834"/>
                </a:solidFill>
                <a:latin typeface="Aptos"/>
              </a:defRPr>
            </a:pPr>
            <a:r>
              <a:t>• Deliver an interactive management dashboard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537960"/>
            <a:ext cx="11155680" cy="9144"/>
          </a:xfrm>
          <a:prstGeom prst="rect">
            <a:avLst/>
          </a:prstGeom>
          <a:solidFill>
            <a:srgbClr val="D7D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0352" y="6574536"/>
            <a:ext cx="95097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378"/>
                </a:solidFill>
                <a:latin typeface="Aptos"/>
              </a:defRPr>
            </a:pPr>
            <a:r>
              <a:t>Vinsup Skill Academy  |  Retail Sales Analytics Project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547104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378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13232"/>
          </a:xfrm>
          <a:prstGeom prst="rect">
            <a:avLst/>
          </a:prstGeom>
          <a:solidFill>
            <a:srgbClr val="172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052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2. End-to-End Analytics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72600" y="164592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D5DBF2"/>
                </a:solidFill>
                <a:latin typeface="Aptos"/>
              </a:defRPr>
            </a:pPr>
            <a:r>
              <a:t>Multi-tool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2331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D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13232" y="1700784"/>
            <a:ext cx="475488" cy="475488"/>
          </a:xfrm>
          <a:prstGeom prst="ellipse">
            <a:avLst/>
          </a:prstGeom>
          <a:solidFill>
            <a:srgbClr val="4D5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1819656"/>
            <a:ext cx="47548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1664208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72249"/>
                </a:solidFill>
                <a:latin typeface="Aptos"/>
              </a:defRPr>
            </a:pPr>
            <a:r>
              <a:t>Excel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2176272"/>
            <a:ext cx="135331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834"/>
                </a:solidFill>
                <a:latin typeface="Aptos"/>
              </a:defRPr>
            </a:pPr>
            <a:r>
              <a:t>Clean &amp; prepare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508760"/>
            <a:ext cx="2331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D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593592" y="1700784"/>
            <a:ext cx="475488" cy="475488"/>
          </a:xfrm>
          <a:prstGeom prst="ellipse">
            <a:avLst/>
          </a:prstGeom>
          <a:solidFill>
            <a:srgbClr val="4D5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93592" y="1819656"/>
            <a:ext cx="47548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78808" y="1664208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72249"/>
                </a:solidFill>
                <a:latin typeface="Aptos"/>
              </a:defRPr>
            </a:pPr>
            <a:r>
              <a:t>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78808" y="2176272"/>
            <a:ext cx="135331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834"/>
                </a:solidFill>
                <a:latin typeface="Aptos"/>
              </a:defRPr>
            </a:pPr>
            <a:r>
              <a:t>Store, join &amp; query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508760"/>
            <a:ext cx="2331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D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73952" y="1700784"/>
            <a:ext cx="475488" cy="475488"/>
          </a:xfrm>
          <a:prstGeom prst="ellipse">
            <a:avLst/>
          </a:prstGeom>
          <a:solidFill>
            <a:srgbClr val="4D5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73952" y="1819656"/>
            <a:ext cx="47548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9168" y="1664208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72249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9168" y="2176272"/>
            <a:ext cx="1353312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834"/>
                </a:solidFill>
                <a:latin typeface="Aptos"/>
              </a:defRPr>
            </a:pPr>
            <a:r>
              <a:rPr dirty="0"/>
              <a:t>EDA </a:t>
            </a:r>
            <a:r>
              <a:rPr lang="en-IN" dirty="0"/>
              <a:t>,</a:t>
            </a:r>
            <a:r>
              <a:rPr dirty="0"/>
              <a:t>RFM 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89720" y="1508760"/>
            <a:ext cx="2331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D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354312" y="1700784"/>
            <a:ext cx="475488" cy="475488"/>
          </a:xfrm>
          <a:prstGeom prst="ellipse">
            <a:avLst/>
          </a:prstGeom>
          <a:solidFill>
            <a:srgbClr val="4D5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54312" y="1819656"/>
            <a:ext cx="47548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39528" y="1664208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72249"/>
                </a:solidFill>
                <a:latin typeface="Aptos"/>
              </a:defRPr>
            </a:pPr>
            <a:r>
              <a:t>Power BI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39528" y="2176272"/>
            <a:ext cx="135331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834"/>
                </a:solidFill>
                <a:latin typeface="Aptos"/>
              </a:defRPr>
            </a:pPr>
            <a:r>
              <a:t>Visualize &amp; report</a:t>
            </a:r>
          </a:p>
        </p:txBody>
      </p:sp>
      <p:sp>
        <p:nvSpPr>
          <p:cNvPr id="27" name="Chevron 26"/>
          <p:cNvSpPr/>
          <p:nvPr/>
        </p:nvSpPr>
        <p:spPr>
          <a:xfrm>
            <a:off x="2999232" y="2103120"/>
            <a:ext cx="457200" cy="502920"/>
          </a:xfrm>
          <a:prstGeom prst="chevron">
            <a:avLst/>
          </a:prstGeom>
          <a:solidFill>
            <a:srgbClr val="A4A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Chevron 27"/>
          <p:cNvSpPr/>
          <p:nvPr/>
        </p:nvSpPr>
        <p:spPr>
          <a:xfrm>
            <a:off x="5879592" y="2103120"/>
            <a:ext cx="457200" cy="502920"/>
          </a:xfrm>
          <a:prstGeom prst="chevron">
            <a:avLst/>
          </a:prstGeom>
          <a:solidFill>
            <a:srgbClr val="A4A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Chevron 28"/>
          <p:cNvSpPr/>
          <p:nvPr/>
        </p:nvSpPr>
        <p:spPr>
          <a:xfrm>
            <a:off x="8759952" y="2103120"/>
            <a:ext cx="457200" cy="502920"/>
          </a:xfrm>
          <a:prstGeom prst="chevron">
            <a:avLst/>
          </a:prstGeom>
          <a:solidFill>
            <a:srgbClr val="A4A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8368" y="4553712"/>
            <a:ext cx="107442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834"/>
                </a:solidFill>
                <a:latin typeface="Aptos"/>
              </a:defRPr>
            </a:pPr>
            <a:r>
              <a:rPr dirty="0"/>
              <a:t>• Data cleaning and processing</a:t>
            </a:r>
            <a:r>
              <a:rPr lang="en-IN" dirty="0"/>
              <a:t> the data</a:t>
            </a:r>
            <a:endParaRPr dirty="0"/>
          </a:p>
          <a:p>
            <a:pPr>
              <a:spcAft>
                <a:spcPts val="800"/>
              </a:spcAft>
              <a:defRPr sz="1600">
                <a:solidFill>
                  <a:srgbClr val="232834"/>
                </a:solidFill>
                <a:latin typeface="Aptos"/>
              </a:defRPr>
            </a:pPr>
            <a:r>
              <a:rPr dirty="0"/>
              <a:t>• SQL joins, aggregations, filters and segmentation</a:t>
            </a:r>
          </a:p>
          <a:p>
            <a:pPr>
              <a:spcAft>
                <a:spcPts val="800"/>
              </a:spcAft>
              <a:defRPr sz="1600">
                <a:solidFill>
                  <a:srgbClr val="232834"/>
                </a:solidFill>
                <a:latin typeface="Aptos"/>
              </a:defRPr>
            </a:pPr>
            <a:r>
              <a:rPr dirty="0"/>
              <a:t>• Python Pandas with visualization for EDA</a:t>
            </a:r>
          </a:p>
          <a:p>
            <a:pPr>
              <a:spcAft>
                <a:spcPts val="800"/>
              </a:spcAft>
              <a:defRPr sz="1600">
                <a:solidFill>
                  <a:srgbClr val="232834"/>
                </a:solidFill>
                <a:latin typeface="Aptos"/>
              </a:defRPr>
            </a:pPr>
            <a:r>
              <a:rPr dirty="0"/>
              <a:t>• Power BI modeling, KPIs, slicers and interactive reporting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537960"/>
            <a:ext cx="11155680" cy="9144"/>
          </a:xfrm>
          <a:prstGeom prst="rect">
            <a:avLst/>
          </a:prstGeom>
          <a:solidFill>
            <a:srgbClr val="D7D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30352" y="6574536"/>
            <a:ext cx="95097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378"/>
                </a:solidFill>
                <a:latin typeface="Aptos"/>
              </a:defRPr>
            </a:pPr>
            <a:r>
              <a:t>Vinsup Skill Academy  |  Retail Sales Analytics Project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6547104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378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13232"/>
          </a:xfrm>
          <a:prstGeom prst="rect">
            <a:avLst/>
          </a:prstGeom>
          <a:solidFill>
            <a:srgbClr val="172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052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3. Phase 1 — Excel: Data Cleaning &amp;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72600" y="164592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D5DBF2"/>
                </a:solidFill>
                <a:latin typeface="Aptos"/>
              </a:defRPr>
            </a:pPr>
            <a:r>
              <a:t>Foundation of the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87552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D5BB0"/>
                </a:solidFill>
                <a:latin typeface="Aptos"/>
              </a:defRPr>
            </a:pPr>
            <a:r>
              <a:t>KEY TASKS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353312"/>
            <a:ext cx="54406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D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353312"/>
            <a:ext cx="73152" cy="4526280"/>
          </a:xfrm>
          <a:prstGeom prst="rect">
            <a:avLst/>
          </a:prstGeom>
          <a:solidFill>
            <a:srgbClr val="4D5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1499616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72249"/>
                </a:solidFill>
                <a:latin typeface="Aptos"/>
              </a:defRPr>
            </a:pPr>
            <a:r>
              <a:t>Cleaning &amp; Transformation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20240"/>
            <a:ext cx="5120640" cy="19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32834"/>
                </a:solidFill>
                <a:latin typeface="Aptos"/>
              </a:defRPr>
            </a:pPr>
            <a:r>
              <a:rPr dirty="0"/>
              <a:t>• Standardize column headers across customers, orders and products</a:t>
            </a:r>
            <a:endParaRPr lang="en-IN" dirty="0"/>
          </a:p>
          <a:p>
            <a:pPr>
              <a:spcAft>
                <a:spcPts val="400"/>
              </a:spcAft>
              <a:defRPr sz="1250">
                <a:solidFill>
                  <a:srgbClr val="232834"/>
                </a:solidFill>
                <a:latin typeface="Aptos"/>
              </a:defRPr>
            </a:pPr>
            <a:endParaRPr dirty="0"/>
          </a:p>
          <a:p>
            <a:pPr>
              <a:spcAft>
                <a:spcPts val="400"/>
              </a:spcAft>
              <a:defRPr sz="1250">
                <a:solidFill>
                  <a:srgbClr val="232834"/>
                </a:solidFill>
                <a:latin typeface="Aptos"/>
              </a:defRPr>
            </a:pPr>
            <a:r>
              <a:rPr dirty="0"/>
              <a:t>• Remove duplicate</a:t>
            </a:r>
            <a:r>
              <a:rPr lang="en-IN" dirty="0"/>
              <a:t> </a:t>
            </a:r>
            <a:r>
              <a:rPr dirty="0"/>
              <a:t>records</a:t>
            </a:r>
            <a:endParaRPr lang="en-IN" dirty="0"/>
          </a:p>
          <a:p>
            <a:pPr>
              <a:spcAft>
                <a:spcPts val="400"/>
              </a:spcAft>
              <a:defRPr sz="1250">
                <a:solidFill>
                  <a:srgbClr val="232834"/>
                </a:solidFill>
                <a:latin typeface="Aptos"/>
              </a:defRPr>
            </a:pPr>
            <a:endParaRPr dirty="0"/>
          </a:p>
          <a:p>
            <a:pPr>
              <a:spcAft>
                <a:spcPts val="400"/>
              </a:spcAft>
              <a:defRPr sz="1250">
                <a:solidFill>
                  <a:srgbClr val="232834"/>
                </a:solidFill>
                <a:latin typeface="Aptos"/>
              </a:defRPr>
            </a:pPr>
            <a:r>
              <a:rPr dirty="0"/>
              <a:t>• Handle missing values </a:t>
            </a:r>
            <a:endParaRPr lang="en-IN" dirty="0"/>
          </a:p>
          <a:p>
            <a:pPr>
              <a:spcAft>
                <a:spcPts val="400"/>
              </a:spcAft>
              <a:defRPr sz="1250">
                <a:solidFill>
                  <a:srgbClr val="232834"/>
                </a:solidFill>
                <a:latin typeface="Aptos"/>
              </a:defRPr>
            </a:pPr>
            <a:endParaRPr dirty="0"/>
          </a:p>
          <a:p>
            <a:pPr>
              <a:spcAft>
                <a:spcPts val="400"/>
              </a:spcAft>
              <a:defRPr sz="1250">
                <a:solidFill>
                  <a:srgbClr val="232834"/>
                </a:solidFill>
                <a:latin typeface="Aptos"/>
              </a:defRPr>
            </a:pPr>
            <a:r>
              <a:rPr dirty="0"/>
              <a:t>• Convert dates and numeric columns to correct types</a:t>
            </a:r>
          </a:p>
          <a:p>
            <a:pPr>
              <a:spcAft>
                <a:spcPts val="400"/>
              </a:spcAft>
              <a:defRPr sz="1250">
                <a:solidFill>
                  <a:srgbClr val="232834"/>
                </a:solidFill>
                <a:latin typeface="Aptos"/>
              </a:defRPr>
            </a:pP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763524" y="3816374"/>
            <a:ext cx="5093208" cy="1259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32834"/>
                </a:solidFill>
                <a:latin typeface="Aptos"/>
              </a:defRPr>
            </a:pPr>
            <a:r>
              <a:rPr dirty="0"/>
              <a:t>• Use VLOOKUP / XLOOKUP to merge product information</a:t>
            </a:r>
            <a:endParaRPr lang="en-IN" dirty="0"/>
          </a:p>
          <a:p>
            <a:pPr>
              <a:spcAft>
                <a:spcPts val="400"/>
              </a:spcAft>
              <a:defRPr sz="1250">
                <a:solidFill>
                  <a:srgbClr val="232834"/>
                </a:solidFill>
                <a:latin typeface="Aptos"/>
              </a:defRPr>
            </a:pPr>
            <a:endParaRPr dirty="0"/>
          </a:p>
          <a:p>
            <a:pPr>
              <a:spcAft>
                <a:spcPts val="400"/>
              </a:spcAft>
              <a:defRPr sz="1250">
                <a:solidFill>
                  <a:srgbClr val="232834"/>
                </a:solidFill>
                <a:latin typeface="Aptos"/>
              </a:defRPr>
            </a:pPr>
            <a:r>
              <a:rPr dirty="0"/>
              <a:t>• Build a basic pivot table for sales by category</a:t>
            </a:r>
            <a:endParaRPr lang="en-IN" dirty="0"/>
          </a:p>
          <a:p>
            <a:pPr>
              <a:spcAft>
                <a:spcPts val="400"/>
              </a:spcAft>
              <a:defRPr sz="1250">
                <a:solidFill>
                  <a:srgbClr val="232834"/>
                </a:solidFill>
                <a:latin typeface="Aptos"/>
              </a:defRPr>
            </a:pPr>
            <a:endParaRPr dirty="0"/>
          </a:p>
          <a:p>
            <a:pPr>
              <a:spcAft>
                <a:spcPts val="400"/>
              </a:spcAft>
              <a:defRPr sz="1250">
                <a:solidFill>
                  <a:srgbClr val="232834"/>
                </a:solidFill>
                <a:latin typeface="Aptos"/>
              </a:defRPr>
            </a:pPr>
            <a:r>
              <a:rPr dirty="0"/>
              <a:t>• Export cleaned CSV files for SQL import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537960"/>
            <a:ext cx="11155680" cy="9144"/>
          </a:xfrm>
          <a:prstGeom prst="rect">
            <a:avLst/>
          </a:prstGeom>
          <a:solidFill>
            <a:srgbClr val="D7D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0352" y="6574536"/>
            <a:ext cx="95097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378"/>
                </a:solidFill>
                <a:latin typeface="Aptos"/>
              </a:defRPr>
            </a:pPr>
            <a:r>
              <a:t>Vinsup Skill Academy  |  Retail Sales Analytics 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547104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378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999" cy="713232"/>
          </a:xfrm>
          <a:prstGeom prst="rect">
            <a:avLst/>
          </a:prstGeom>
          <a:solidFill>
            <a:srgbClr val="172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052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4. Phase 2 — SQL: Database &amp; Querying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72600" y="164592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D5DBF2"/>
                </a:solidFill>
                <a:latin typeface="Aptos"/>
              </a:defRPr>
            </a:pPr>
            <a:r>
              <a:t>Relational analysis layer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353312"/>
            <a:ext cx="3493008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353312"/>
            <a:ext cx="73152" cy="1828800"/>
          </a:xfrm>
          <a:prstGeom prst="rect">
            <a:avLst/>
          </a:prstGeom>
          <a:solidFill>
            <a:srgbClr val="4D5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1499616"/>
            <a:ext cx="317296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72249"/>
                </a:solidFill>
                <a:latin typeface="Aptos"/>
              </a:defRPr>
            </a:pPr>
            <a:r>
              <a:t>Data Loading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20240"/>
            <a:ext cx="3172968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32834"/>
                </a:solidFill>
                <a:latin typeface="Aptos"/>
              </a:defRPr>
            </a:pPr>
            <a:r>
              <a:t>• Create tables from the ERD structure</a:t>
            </a:r>
          </a:p>
          <a:p>
            <a:pPr>
              <a:spcAft>
                <a:spcPts val="400"/>
              </a:spcAft>
              <a:defRPr sz="1250">
                <a:solidFill>
                  <a:srgbClr val="232834"/>
                </a:solidFill>
                <a:latin typeface="Aptos"/>
              </a:defRPr>
            </a:pPr>
            <a:r>
              <a:t>• Import cleaned CSV files into SQL / MySQL Workbench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2544" y="1353312"/>
            <a:ext cx="3493008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52544" y="1353312"/>
            <a:ext cx="73152" cy="1828800"/>
          </a:xfrm>
          <a:prstGeom prst="rect">
            <a:avLst/>
          </a:prstGeom>
          <a:solidFill>
            <a:srgbClr val="30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5424" y="1499616"/>
            <a:ext cx="317296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72249"/>
                </a:solidFill>
                <a:latin typeface="Aptos"/>
              </a:defRPr>
            </a:pPr>
            <a:r>
              <a:t>Joins &amp; Aggregation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1920240"/>
            <a:ext cx="3172968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32834"/>
                </a:solidFill>
                <a:latin typeface="Aptos"/>
              </a:defRPr>
            </a:pPr>
            <a:r>
              <a:t>• Join orders, order_items and products</a:t>
            </a:r>
          </a:p>
          <a:p>
            <a:pPr>
              <a:spcAft>
                <a:spcPts val="400"/>
              </a:spcAft>
              <a:defRPr sz="1250">
                <a:solidFill>
                  <a:srgbClr val="232834"/>
                </a:solidFill>
                <a:latin typeface="Aptos"/>
              </a:defRPr>
            </a:pPr>
            <a:r>
              <a:t>• Calculate sales by store and other business summaries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352044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D5BB0"/>
                </a:solidFill>
                <a:latin typeface="Aptos"/>
              </a:defRPr>
            </a:pPr>
            <a:r>
              <a:t>REQUIRED OUTPUTS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886200"/>
            <a:ext cx="1078992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834"/>
                </a:solidFill>
                <a:latin typeface="Aptos"/>
              </a:defRPr>
            </a:pPr>
            <a:r>
              <a:rPr dirty="0"/>
              <a:t>• Customer spending brackets and final </a:t>
            </a:r>
            <a:r>
              <a:rPr dirty="0" err="1"/>
              <a:t>customer_segments</a:t>
            </a:r>
            <a:r>
              <a:rPr dirty="0"/>
              <a:t> table</a:t>
            </a:r>
          </a:p>
          <a:p>
            <a:pPr>
              <a:spcAft>
                <a:spcPts val="800"/>
              </a:spcAft>
              <a:defRPr sz="1600">
                <a:solidFill>
                  <a:srgbClr val="232834"/>
                </a:solidFill>
                <a:latin typeface="Aptos"/>
              </a:defRPr>
            </a:pPr>
            <a:r>
              <a:rPr dirty="0"/>
              <a:t>• Revenue by store / staff and product-level performance</a:t>
            </a:r>
          </a:p>
          <a:p>
            <a:pPr>
              <a:spcAft>
                <a:spcPts val="800"/>
              </a:spcAft>
              <a:defRPr sz="1600">
                <a:solidFill>
                  <a:srgbClr val="232834"/>
                </a:solidFill>
                <a:latin typeface="Aptos"/>
              </a:defRPr>
            </a:pPr>
            <a:r>
              <a:rPr dirty="0"/>
              <a:t>• Low-stock list for products </a:t>
            </a:r>
          </a:p>
          <a:p>
            <a:pPr>
              <a:spcAft>
                <a:spcPts val="800"/>
              </a:spcAft>
              <a:defRPr sz="1600">
                <a:solidFill>
                  <a:srgbClr val="232834"/>
                </a:solidFill>
                <a:latin typeface="Aptos"/>
              </a:defRPr>
            </a:pPr>
            <a:r>
              <a:rPr dirty="0"/>
              <a:t>• Relational dataset ready for Python and Power BI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537960"/>
            <a:ext cx="11155680" cy="9144"/>
          </a:xfrm>
          <a:prstGeom prst="rect">
            <a:avLst/>
          </a:prstGeom>
          <a:solidFill>
            <a:srgbClr val="D7D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0352" y="6574536"/>
            <a:ext cx="95097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378"/>
                </a:solidFill>
                <a:latin typeface="Aptos"/>
              </a:defRPr>
            </a:pPr>
            <a:r>
              <a:t>Vinsup Skill Academy  |  Retail Sales Analytics Project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547104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378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13232"/>
          </a:xfrm>
          <a:prstGeom prst="rect">
            <a:avLst/>
          </a:prstGeom>
          <a:solidFill>
            <a:srgbClr val="172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052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5. Phase 3 — Python &amp; 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72600" y="164592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D5DBF2"/>
                </a:solidFill>
                <a:latin typeface="Aptos"/>
              </a:defRPr>
            </a:pPr>
            <a:r>
              <a:t>Analysis and customer segmentation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353312"/>
            <a:ext cx="3456432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D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353312"/>
            <a:ext cx="73152" cy="2148840"/>
          </a:xfrm>
          <a:prstGeom prst="rect">
            <a:avLst/>
          </a:prstGeom>
          <a:solidFill>
            <a:srgbClr val="4D5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1499616"/>
            <a:ext cx="313639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72249"/>
                </a:solidFill>
                <a:latin typeface="Aptos"/>
              </a:defRPr>
            </a:pPr>
            <a:r>
              <a:t>1. Load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20240"/>
            <a:ext cx="3136391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32834"/>
                </a:solidFill>
                <a:latin typeface="Aptos"/>
              </a:defRPr>
            </a:pPr>
            <a:r>
              <a:t>• Use pandas.read_sql() to pull orders, order_items and customers into DataFrames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353312"/>
            <a:ext cx="3456432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D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70832" y="1353312"/>
            <a:ext cx="73152" cy="2148840"/>
          </a:xfrm>
          <a:prstGeom prst="rect">
            <a:avLst/>
          </a:prstGeom>
          <a:solidFill>
            <a:srgbClr val="30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3712" y="1499616"/>
            <a:ext cx="313639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72249"/>
                </a:solidFill>
                <a:latin typeface="Aptos"/>
              </a:defRPr>
            </a:pPr>
            <a:r>
              <a:t>2. Exploratory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1920240"/>
            <a:ext cx="3136391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32834"/>
                </a:solidFill>
                <a:latin typeface="Aptos"/>
              </a:defRPr>
            </a:pPr>
            <a:r>
              <a:t>• Use df.describe(), df.info() and df.value_counts()</a:t>
            </a:r>
          </a:p>
          <a:p>
            <a:pPr>
              <a:spcAft>
                <a:spcPts val="400"/>
              </a:spcAft>
              <a:defRPr sz="1250">
                <a:solidFill>
                  <a:srgbClr val="232834"/>
                </a:solidFill>
                <a:latin typeface="Aptos"/>
              </a:defRPr>
            </a:pPr>
            <a:r>
              <a:t>• Create basic charts with Matplotlib / Seaborn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74736" y="1353312"/>
            <a:ext cx="3456432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D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74736" y="1353312"/>
            <a:ext cx="73152" cy="2148840"/>
          </a:xfrm>
          <a:prstGeom prst="rect">
            <a:avLst/>
          </a:prstGeom>
          <a:solidFill>
            <a:srgbClr val="D69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57615" y="1499616"/>
            <a:ext cx="84670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72249"/>
                </a:solidFill>
                <a:latin typeface="Aptos"/>
              </a:defRPr>
            </a:pPr>
            <a:r>
              <a:rPr dirty="0"/>
              <a:t>3. RFM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7615" y="1920240"/>
            <a:ext cx="3136391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32834"/>
                </a:solidFill>
                <a:latin typeface="Aptos"/>
              </a:defRPr>
            </a:pPr>
            <a:r>
              <a:t>• Recency = days since last order</a:t>
            </a:r>
          </a:p>
          <a:p>
            <a:pPr>
              <a:spcAft>
                <a:spcPts val="400"/>
              </a:spcAft>
              <a:defRPr sz="1250">
                <a:solidFill>
                  <a:srgbClr val="232834"/>
                </a:solidFill>
                <a:latin typeface="Aptos"/>
              </a:defRPr>
            </a:pPr>
            <a:r>
              <a:t>• Frequency = number of orders</a:t>
            </a:r>
          </a:p>
          <a:p>
            <a:pPr>
              <a:spcAft>
                <a:spcPts val="400"/>
              </a:spcAft>
              <a:defRPr sz="1250">
                <a:solidFill>
                  <a:srgbClr val="232834"/>
                </a:solidFill>
                <a:latin typeface="Aptos"/>
              </a:defRPr>
            </a:pPr>
            <a:r>
              <a:t>• Monetary = total purchase 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5241" y="3794760"/>
            <a:ext cx="801823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D5BB0"/>
                </a:solidFill>
                <a:latin typeface="Aptos"/>
              </a:defRPr>
            </a:pPr>
            <a:r>
              <a:rPr dirty="0"/>
              <a:t>PIPELINE 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224528"/>
            <a:ext cx="10561320" cy="1170432"/>
          </a:xfrm>
          <a:prstGeom prst="roundRect">
            <a:avLst/>
          </a:prstGeom>
          <a:solidFill>
            <a:srgbClr val="ED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2688" y="4480560"/>
            <a:ext cx="10012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72249"/>
                </a:solidFill>
                <a:latin typeface="Aptos"/>
              </a:defRPr>
            </a:pPr>
            <a:r>
              <a:t>RFM data + segment label  →  export to SQL customer_segments  →  import into Power BI for visualization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537960"/>
            <a:ext cx="11155680" cy="9144"/>
          </a:xfrm>
          <a:prstGeom prst="rect">
            <a:avLst/>
          </a:prstGeom>
          <a:solidFill>
            <a:srgbClr val="D7D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0352" y="6574536"/>
            <a:ext cx="95097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378"/>
                </a:solidFill>
                <a:latin typeface="Aptos"/>
              </a:defRPr>
            </a:pPr>
            <a:r>
              <a:t>Vinsup Skill Academy  |  Retail Sales Analytics Project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547104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378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13232"/>
          </a:xfrm>
          <a:prstGeom prst="rect">
            <a:avLst/>
          </a:prstGeom>
          <a:solidFill>
            <a:srgbClr val="172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052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6. Phase 4 — Power BI: Dashboard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72600" y="164592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D5DBF2"/>
                </a:solidFill>
                <a:latin typeface="Aptos"/>
              </a:defRPr>
            </a:pPr>
            <a:r>
              <a:t>Task-to-dashboard mapping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87552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D5BB0"/>
                </a:solidFill>
                <a:latin typeface="Aptos"/>
              </a:defRPr>
            </a:pPr>
            <a:r>
              <a:t>REQUIRED VISUALS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353312"/>
            <a:ext cx="2578608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353312"/>
            <a:ext cx="73152" cy="1828800"/>
          </a:xfrm>
          <a:prstGeom prst="rect">
            <a:avLst/>
          </a:prstGeom>
          <a:solidFill>
            <a:srgbClr val="4D5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1499616"/>
            <a:ext cx="225856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72249"/>
                </a:solidFill>
                <a:latin typeface="Aptos"/>
              </a:defRPr>
            </a:pPr>
            <a:r>
              <a:t>Sales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20240"/>
            <a:ext cx="2258568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32834"/>
                </a:solidFill>
                <a:latin typeface="Aptos"/>
              </a:defRPr>
            </a:pPr>
            <a:r>
              <a:t>• Sales over time • monthly trend • total orders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353312"/>
            <a:ext cx="2578608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83280" y="1353312"/>
            <a:ext cx="73152" cy="1828800"/>
          </a:xfrm>
          <a:prstGeom prst="rect">
            <a:avLst/>
          </a:prstGeom>
          <a:solidFill>
            <a:srgbClr val="30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66160" y="1499616"/>
            <a:ext cx="225856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72249"/>
                </a:solidFill>
                <a:latin typeface="Aptos"/>
              </a:defRPr>
            </a:pPr>
            <a:r>
              <a:t>Top Products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1920240"/>
            <a:ext cx="2258568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32834"/>
                </a:solidFill>
                <a:latin typeface="Aptos"/>
              </a:defRPr>
            </a:pPr>
            <a:r>
              <a:t>• Revenue or quantity by product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1353312"/>
            <a:ext cx="2578608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99632" y="1353312"/>
            <a:ext cx="73152" cy="1828800"/>
          </a:xfrm>
          <a:prstGeom prst="rect">
            <a:avLst/>
          </a:prstGeom>
          <a:solidFill>
            <a:srgbClr val="D69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82512" y="1499616"/>
            <a:ext cx="225856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72249"/>
                </a:solidFill>
                <a:latin typeface="Aptos"/>
              </a:defRPr>
            </a:pPr>
            <a:r>
              <a:t>Customer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1920240"/>
            <a:ext cx="2258568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32834"/>
                </a:solidFill>
                <a:latin typeface="Aptos"/>
              </a:defRPr>
            </a:pPr>
            <a:r>
              <a:t>• Purchase patterns by city / state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15984" y="1353312"/>
            <a:ext cx="2578608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015984" y="1353312"/>
            <a:ext cx="73152" cy="1828800"/>
          </a:xfrm>
          <a:prstGeom prst="rect">
            <a:avLst/>
          </a:prstGeom>
          <a:solidFill>
            <a:srgbClr val="4D5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98863" y="1499616"/>
            <a:ext cx="225856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72249"/>
                </a:solidFill>
                <a:latin typeface="Aptos"/>
              </a:defRPr>
            </a:pPr>
            <a:r>
              <a:t>Store 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98863" y="1920240"/>
            <a:ext cx="2258568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32834"/>
                </a:solidFill>
                <a:latin typeface="Aptos"/>
              </a:defRPr>
            </a:pPr>
            <a:r>
              <a:t>• Geographic sales distribution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502152"/>
            <a:ext cx="2578608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66928" y="3502152"/>
            <a:ext cx="73152" cy="1828800"/>
          </a:xfrm>
          <a:prstGeom prst="rect">
            <a:avLst/>
          </a:prstGeom>
          <a:solidFill>
            <a:srgbClr val="4D5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9808" y="3648456"/>
            <a:ext cx="225856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72249"/>
                </a:solidFill>
                <a:latin typeface="Aptos"/>
              </a:defRPr>
            </a:pPr>
            <a:r>
              <a:t>Low Stock Alert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069080"/>
            <a:ext cx="2258568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32834"/>
                </a:solidFill>
                <a:latin typeface="Aptos"/>
              </a:defRPr>
            </a:pPr>
            <a:r>
              <a:t>• Products below stock threshold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83280" y="3502152"/>
            <a:ext cx="2578608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383280" y="3502152"/>
            <a:ext cx="73152" cy="1828800"/>
          </a:xfrm>
          <a:prstGeom prst="rect">
            <a:avLst/>
          </a:prstGeom>
          <a:solidFill>
            <a:srgbClr val="30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566160" y="3648456"/>
            <a:ext cx="225856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72249"/>
                </a:solidFill>
                <a:latin typeface="Aptos"/>
              </a:defRPr>
            </a:pPr>
            <a:r>
              <a:t>Staff Performance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0" y="4069080"/>
            <a:ext cx="2258568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32834"/>
                </a:solidFill>
                <a:latin typeface="Aptos"/>
              </a:defRPr>
            </a:pPr>
            <a:r>
              <a:t>• Revenue per staff member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9632" y="3502152"/>
            <a:ext cx="2578608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199632" y="3502152"/>
            <a:ext cx="73152" cy="1828800"/>
          </a:xfrm>
          <a:prstGeom prst="rect">
            <a:avLst/>
          </a:prstGeom>
          <a:solidFill>
            <a:srgbClr val="D69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82512" y="3648456"/>
            <a:ext cx="225856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72249"/>
                </a:solidFill>
                <a:latin typeface="Aptos"/>
              </a:defRPr>
            </a:pPr>
            <a:r>
              <a:t>Customer Segments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2512" y="4069080"/>
            <a:ext cx="2258568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32834"/>
                </a:solidFill>
                <a:latin typeface="Aptos"/>
              </a:defRPr>
            </a:pPr>
            <a:r>
              <a:t>• Segment distribution + segment revenue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15984" y="3502152"/>
            <a:ext cx="2578608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015984" y="3502152"/>
            <a:ext cx="73152" cy="1828800"/>
          </a:xfrm>
          <a:prstGeom prst="rect">
            <a:avLst/>
          </a:prstGeom>
          <a:solidFill>
            <a:srgbClr val="4D5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98863" y="3648456"/>
            <a:ext cx="225856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72249"/>
                </a:solidFill>
                <a:latin typeface="Aptos"/>
              </a:defRPr>
            </a:pPr>
            <a:r>
              <a:t>Interactivity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98863" y="4069080"/>
            <a:ext cx="2258568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32834"/>
                </a:solidFill>
                <a:latin typeface="Aptos"/>
              </a:defRPr>
            </a:pPr>
            <a:r>
              <a:t>• Slicers: status • category • store / segment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6537960"/>
            <a:ext cx="11155680" cy="9144"/>
          </a:xfrm>
          <a:prstGeom prst="rect">
            <a:avLst/>
          </a:prstGeom>
          <a:solidFill>
            <a:srgbClr val="D7D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30352" y="6574536"/>
            <a:ext cx="95097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378"/>
                </a:solidFill>
                <a:latin typeface="Aptos"/>
              </a:defRPr>
            </a:pPr>
            <a:r>
              <a:t>Vinsup Skill Academy  |  Retail Sales Analytics Project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89920" y="6547104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378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8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13232"/>
          </a:xfrm>
          <a:prstGeom prst="rect">
            <a:avLst/>
          </a:prstGeom>
          <a:solidFill>
            <a:srgbClr val="172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052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7. Power BI Dashboard —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72600" y="164592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D5DBF2"/>
                </a:solidFill>
                <a:latin typeface="Aptos"/>
              </a:defRPr>
            </a:pPr>
            <a:r>
              <a:t>Submitted dashboard image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4800" y="987552"/>
            <a:ext cx="9822397" cy="5477256"/>
          </a:xfrm>
          <a:prstGeom prst="rect">
            <a:avLst/>
          </a:prstGeom>
          <a:noFill/>
          <a:ln w="12700">
            <a:solidFill>
              <a:srgbClr val="C3C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creenshot 2026-09-24 1254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088" y="1005840"/>
            <a:ext cx="9785821" cy="54406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6537960"/>
            <a:ext cx="11155680" cy="9144"/>
          </a:xfrm>
          <a:prstGeom prst="rect">
            <a:avLst/>
          </a:prstGeom>
          <a:solidFill>
            <a:srgbClr val="D7D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" y="6574536"/>
            <a:ext cx="95097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378"/>
                </a:solidFill>
                <a:latin typeface="Aptos"/>
              </a:defRPr>
            </a:pPr>
            <a:r>
              <a:t>Vinsup Skill Academy  |  Retail Sales Analytics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547104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378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8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13232"/>
          </a:xfrm>
          <a:prstGeom prst="rect">
            <a:avLst/>
          </a:prstGeom>
          <a:solidFill>
            <a:srgbClr val="172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052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8. Power BI Dashboard — Product &amp; Customer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72600" y="164592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D5DBF2"/>
                </a:solidFill>
                <a:latin typeface="Aptos"/>
              </a:defRPr>
            </a:pPr>
            <a:r>
              <a:t>Submitted dashboard image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3329" y="987552"/>
            <a:ext cx="9825340" cy="5477256"/>
          </a:xfrm>
          <a:prstGeom prst="rect">
            <a:avLst/>
          </a:prstGeom>
          <a:noFill/>
          <a:ln w="12700">
            <a:solidFill>
              <a:srgbClr val="C3C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creenshot 2026-09-24 1255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617" y="1005840"/>
            <a:ext cx="9788764" cy="54406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6537960"/>
            <a:ext cx="11155680" cy="9144"/>
          </a:xfrm>
          <a:prstGeom prst="rect">
            <a:avLst/>
          </a:prstGeom>
          <a:solidFill>
            <a:srgbClr val="D7D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" y="6574536"/>
            <a:ext cx="95097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378"/>
                </a:solidFill>
                <a:latin typeface="Aptos"/>
              </a:defRPr>
            </a:pPr>
            <a:r>
              <a:t>Vinsup Skill Academy  |  Retail Sales Analytics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547104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378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13232"/>
          </a:xfrm>
          <a:prstGeom prst="rect">
            <a:avLst/>
          </a:prstGeom>
          <a:solidFill>
            <a:srgbClr val="172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052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9. Dashboard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72600" y="164592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D5DBF2"/>
                </a:solidFill>
                <a:latin typeface="Aptos"/>
              </a:defRPr>
            </a:pPr>
            <a:r>
              <a:t>Observed from the submitted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87552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D5BB0"/>
                </a:solidFill>
                <a:latin typeface="Aptos"/>
              </a:defRPr>
            </a:pPr>
            <a:r>
              <a:t>HEADLINE METRICS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307592"/>
            <a:ext cx="201168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D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90472"/>
            <a:ext cx="16824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5C6378"/>
                </a:solidFill>
                <a:latin typeface="Aptos"/>
              </a:defRPr>
            </a:pPr>
            <a:r>
              <a:t>Total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47088"/>
            <a:ext cx="16824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72249"/>
                </a:solidFill>
                <a:latin typeface="Aptos"/>
              </a:defRPr>
            </a:pPr>
            <a:r>
              <a:t>8.58M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16352" y="1307592"/>
            <a:ext cx="201168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D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80944" y="1490472"/>
            <a:ext cx="16824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5C6378"/>
                </a:solidFill>
                <a:latin typeface="Aptos"/>
              </a:defRPr>
            </a:pPr>
            <a:r>
              <a:t>Total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80944" y="1847088"/>
            <a:ext cx="16824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72249"/>
                </a:solidFill>
                <a:latin typeface="Aptos"/>
              </a:defRPr>
            </a:pPr>
            <a:r>
              <a:t>1.615K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65776" y="1307592"/>
            <a:ext cx="201168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D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30368" y="1490472"/>
            <a:ext cx="16824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5C6378"/>
                </a:solidFill>
                <a:latin typeface="Aptos"/>
              </a:defRPr>
            </a:pPr>
            <a:r>
              <a:t>Total Quantity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0368" y="1847088"/>
            <a:ext cx="16824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72249"/>
                </a:solidFill>
                <a:latin typeface="Aptos"/>
              </a:defRPr>
            </a:pPr>
            <a:r>
              <a:t>14K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1307592"/>
            <a:ext cx="201168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D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79792" y="1490472"/>
            <a:ext cx="16824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5C6378"/>
                </a:solidFill>
                <a:latin typeface="Aptos"/>
              </a:defRPr>
            </a:pPr>
            <a:r>
              <a:t>Total Products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79792" y="1847088"/>
            <a:ext cx="16824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72249"/>
                </a:solidFill>
                <a:latin typeface="Aptos"/>
              </a:defRPr>
            </a:pPr>
            <a:r>
              <a:t>278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64624" y="1307592"/>
            <a:ext cx="201168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D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729215" y="1490472"/>
            <a:ext cx="16824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5C6378"/>
                </a:solidFill>
                <a:latin typeface="Aptos"/>
              </a:defRPr>
            </a:pPr>
            <a:r>
              <a:t>Customers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29215" y="1847088"/>
            <a:ext cx="168249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72249"/>
                </a:solidFill>
                <a:latin typeface="Aptos"/>
              </a:defRPr>
            </a:pPr>
            <a:r>
              <a:t>1.445K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2852928"/>
            <a:ext cx="365760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DD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66928" y="2852928"/>
            <a:ext cx="73152" cy="2514600"/>
          </a:xfrm>
          <a:prstGeom prst="rect">
            <a:avLst/>
          </a:prstGeom>
          <a:solidFill>
            <a:srgbClr val="4D5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9808" y="2999232"/>
            <a:ext cx="3337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72249"/>
                </a:solidFill>
                <a:latin typeface="Aptos"/>
              </a:defRPr>
            </a:pPr>
            <a:r>
              <a:t>Sales Trend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3419856"/>
            <a:ext cx="3337560" cy="1801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32834"/>
                </a:solidFill>
                <a:latin typeface="Aptos"/>
              </a:defRPr>
            </a:pPr>
            <a:r>
              <a:t>• Monthly sales rise to a visible peak around April in the submitted overview page.</a:t>
            </a:r>
          </a:p>
          <a:p>
            <a:pPr>
              <a:spcAft>
                <a:spcPts val="400"/>
              </a:spcAft>
              <a:defRPr sz="1250">
                <a:solidFill>
                  <a:srgbClr val="232834"/>
                </a:solidFill>
                <a:latin typeface="Aptos"/>
              </a:defRPr>
            </a:pPr>
            <a:r>
              <a:t>• The dashboard also includes year-wise sales for 2016–2018.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79976" y="2852928"/>
            <a:ext cx="365760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DD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79976" y="2852928"/>
            <a:ext cx="73152" cy="2514600"/>
          </a:xfrm>
          <a:prstGeom prst="rect">
            <a:avLst/>
          </a:prstGeom>
          <a:solidFill>
            <a:srgbClr val="30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62856" y="2999232"/>
            <a:ext cx="3337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72249"/>
                </a:solidFill>
                <a:latin typeface="Aptos"/>
              </a:defRPr>
            </a:pPr>
            <a:r>
              <a:t>Product &amp; Customer 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62856" y="3419856"/>
            <a:ext cx="3337560" cy="1801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32834"/>
                </a:solidFill>
                <a:latin typeface="Aptos"/>
              </a:defRPr>
            </a:pPr>
            <a:r>
              <a:t>• Product-wise revenue highlights the highest-revenue bike entries.</a:t>
            </a:r>
          </a:p>
          <a:p>
            <a:pPr>
              <a:spcAft>
                <a:spcPts val="400"/>
              </a:spcAft>
              <a:defRPr sz="1250">
                <a:solidFill>
                  <a:srgbClr val="232834"/>
                </a:solidFill>
                <a:latin typeface="Aptos"/>
              </a:defRPr>
            </a:pPr>
            <a:r>
              <a:t>• Customer spend and customer-count visuals support customer-level analysis.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93024" y="2852928"/>
            <a:ext cx="3419856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DD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193024" y="2852928"/>
            <a:ext cx="73152" cy="2514600"/>
          </a:xfrm>
          <a:prstGeom prst="rect">
            <a:avLst/>
          </a:prstGeom>
          <a:solidFill>
            <a:srgbClr val="D69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75904" y="2999232"/>
            <a:ext cx="30998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72249"/>
                </a:solidFill>
                <a:latin typeface="Aptos"/>
              </a:defRPr>
            </a:pPr>
            <a:r>
              <a:t>Geography &amp; 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75904" y="3419856"/>
            <a:ext cx="3099816" cy="1801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32834"/>
                </a:solidFill>
                <a:latin typeface="Aptos"/>
              </a:defRPr>
            </a:pPr>
            <a:r>
              <a:t>• State-level order visuals compare California, New York and Texas.</a:t>
            </a:r>
          </a:p>
          <a:p>
            <a:pPr>
              <a:spcAft>
                <a:spcPts val="400"/>
              </a:spcAft>
              <a:defRPr sz="1250">
                <a:solidFill>
                  <a:srgbClr val="232834"/>
                </a:solidFill>
                <a:latin typeface="Aptos"/>
              </a:defRPr>
            </a:pPr>
            <a:r>
              <a:t>• Order status is split into Delivered, Pending, Rejected and Shipped.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6537960"/>
            <a:ext cx="11155680" cy="9144"/>
          </a:xfrm>
          <a:prstGeom prst="rect">
            <a:avLst/>
          </a:prstGeom>
          <a:solidFill>
            <a:srgbClr val="D7D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0352" y="6574536"/>
            <a:ext cx="95097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378"/>
                </a:solidFill>
                <a:latin typeface="Aptos"/>
              </a:defRPr>
            </a:pPr>
            <a:r>
              <a:t>Vinsup Skill Academy  |  Retail Sales Analytics Project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6547104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378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13232"/>
          </a:xfrm>
          <a:prstGeom prst="rect">
            <a:avLst/>
          </a:prstGeom>
          <a:solidFill>
            <a:srgbClr val="172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052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11.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72600" y="164592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D5DBF2"/>
                </a:solidFill>
                <a:latin typeface="Aptos"/>
              </a:defRPr>
            </a:pPr>
            <a:r>
              <a:t>End-to-end retail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87552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D5BB0"/>
                </a:solidFill>
                <a:latin typeface="Aptos"/>
              </a:defRPr>
            </a:pPr>
            <a:r>
              <a:t>SUMMARY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371600"/>
            <a:ext cx="10927080" cy="1417320"/>
          </a:xfrm>
          <a:prstGeom prst="roundRect">
            <a:avLst/>
          </a:prstGeom>
          <a:solidFill>
            <a:srgbClr val="ED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700784"/>
            <a:ext cx="10927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172249"/>
                </a:solidFill>
                <a:latin typeface="Aptos"/>
              </a:defRPr>
            </a:pPr>
            <a:r>
              <a:rPr dirty="0"/>
              <a:t>Raw transactional data → clean data → relational analysis → customer analytics → interactive Power BI 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3182112"/>
            <a:ext cx="3401568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D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" y="3182112"/>
            <a:ext cx="73152" cy="1920240"/>
          </a:xfrm>
          <a:prstGeom prst="rect">
            <a:avLst/>
          </a:prstGeom>
          <a:solidFill>
            <a:srgbClr val="4D5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3328416"/>
            <a:ext cx="308152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72249"/>
                </a:solidFill>
                <a:latin typeface="Aptos"/>
              </a:defRPr>
            </a:pPr>
            <a:r>
              <a:t>Business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749039"/>
            <a:ext cx="3081528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32834"/>
                </a:solidFill>
                <a:latin typeface="Aptos"/>
              </a:defRPr>
            </a:pPr>
            <a:r>
              <a:t>• Centralizes sales, customer, product and geographic views</a:t>
            </a:r>
          </a:p>
          <a:p>
            <a:pPr>
              <a:spcAft>
                <a:spcPts val="400"/>
              </a:spcAft>
              <a:defRPr sz="1250">
                <a:solidFill>
                  <a:srgbClr val="232834"/>
                </a:solidFill>
                <a:latin typeface="Aptos"/>
              </a:defRPr>
            </a:pPr>
            <a:r>
              <a:t>• Makes KPI monitoring and pattern discovery faster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3182112"/>
            <a:ext cx="3401568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D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70832" y="3182112"/>
            <a:ext cx="73152" cy="1920240"/>
          </a:xfrm>
          <a:prstGeom prst="rect">
            <a:avLst/>
          </a:prstGeom>
          <a:solidFill>
            <a:srgbClr val="30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53712" y="3328416"/>
            <a:ext cx="308152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72249"/>
                </a:solidFill>
                <a:latin typeface="Aptos"/>
              </a:defRPr>
            </a:pPr>
            <a:r>
              <a:t>Analyst Skills Demonstrated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3749039"/>
            <a:ext cx="3081528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32834"/>
                </a:solidFill>
                <a:latin typeface="Aptos"/>
              </a:defRPr>
            </a:pPr>
            <a:r>
              <a:t>• Excel • SQL • Python • Power BI</a:t>
            </a:r>
          </a:p>
          <a:p>
            <a:pPr>
              <a:spcAft>
                <a:spcPts val="400"/>
              </a:spcAft>
              <a:defRPr sz="1250">
                <a:solidFill>
                  <a:srgbClr val="232834"/>
                </a:solidFill>
                <a:latin typeface="Aptos"/>
              </a:defRPr>
            </a:pPr>
            <a:r>
              <a:t>• EDA • RFM • ETL • Data Cleaning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3182112"/>
            <a:ext cx="3401568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D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19872" y="3182112"/>
            <a:ext cx="73152" cy="1920240"/>
          </a:xfrm>
          <a:prstGeom prst="rect">
            <a:avLst/>
          </a:prstGeom>
          <a:solidFill>
            <a:srgbClr val="D69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02752" y="3328416"/>
            <a:ext cx="308152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72249"/>
                </a:solidFill>
                <a:latin typeface="Aptos"/>
              </a:defRPr>
            </a:pPr>
            <a:r>
              <a:t>Next Step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3749039"/>
            <a:ext cx="3081528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32834"/>
                </a:solidFill>
                <a:latin typeface="Aptos"/>
              </a:defRPr>
            </a:pPr>
            <a:r>
              <a:t>• Use the dashboard to support management review and deeper analysis of segments, products, stores and inventory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2738" y="5577840"/>
            <a:ext cx="152176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4D5BB0"/>
                </a:solidFill>
                <a:latin typeface="Aptos"/>
              </a:defRPr>
            </a:pPr>
            <a:r>
              <a:rPr dirty="0"/>
              <a:t>THANK YOU 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537960"/>
            <a:ext cx="11155680" cy="9144"/>
          </a:xfrm>
          <a:prstGeom prst="rect">
            <a:avLst/>
          </a:prstGeom>
          <a:solidFill>
            <a:srgbClr val="D7D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0352" y="6574536"/>
            <a:ext cx="95097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378"/>
                </a:solidFill>
                <a:latin typeface="Aptos"/>
              </a:defRPr>
            </a:pPr>
            <a:r>
              <a:t>Vinsup Skill Academy  |  Retail Sales Analytics Project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547104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C6378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18643</TotalTime>
  <Words>846</Words>
  <Application>Microsoft Office PowerPoint</Application>
  <PresentationFormat>Widescreen</PresentationFormat>
  <Paragraphs>155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Sales Analytics – Bicycle &amp; Bike Analysis</dc:title>
  <dc:subject>Data Analytics project presentation based on Vinsup Skill Academy task brief and submitted Power BI dashboard</dc:subject>
  <dc:creator>Arun Kumar</dc:creator>
  <cp:keywords/>
  <dc:description>generated using python-pptx</dc:description>
  <cp:lastModifiedBy>Arun Kumar</cp:lastModifiedBy>
  <cp:revision>6</cp:revision>
  <dcterms:created xsi:type="dcterms:W3CDTF">2013-01-27T09:14:16Z</dcterms:created>
  <dcterms:modified xsi:type="dcterms:W3CDTF">2026-10-07T06:24:54Z</dcterms:modified>
  <cp:category/>
</cp:coreProperties>
</file>